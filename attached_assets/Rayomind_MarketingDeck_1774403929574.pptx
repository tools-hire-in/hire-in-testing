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Median</c:v>
                </c:pt>
              </c:strCache>
            </c:strRef>
          </c:tx>
          <c:spPr>
            <a:solidFill>
              <a:srgbClr val="FFB7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Time to hire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Hire’in (AI + human)</c:v>
                </c:pt>
              </c:strCache>
            </c:strRef>
          </c:tx>
          <c:spPr>
            <a:solidFill>
              <a:srgbClr val="F96D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Time to hire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Hire'in</c:v>
                </c:pt>
              </c:strCache>
            </c:strRef>
          </c:tx>
          <c:spPr>
            <a:solidFill>
              <a:srgbClr val="FFB7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 satisfaction</c:v>
                  </c:pt>
                  <c:pt idx="1">
                    <c:v>Placement speed</c:v>
                  </c:pt>
                  <c:pt idx="2">
                    <c:v>Compliance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50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Avg</c:v>
                </c:pt>
              </c:strCache>
            </c:strRef>
          </c:tx>
          <c:spPr>
            <a:solidFill>
              <a:srgbClr val="F96D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 satisfaction</c:v>
                  </c:pt>
                  <c:pt idx="1">
                    <c:v>Placement speed</c:v>
                  </c:pt>
                  <c:pt idx="2">
                    <c:v>Compliance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</c:v>
                </c:pt>
                <c:pt idx="1">
                  <c:v>25</c:v>
                </c:pt>
                <c:pt idx="2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Process</c:v>
                </c:pt>
              </c:strCache>
            </c:strRef>
          </c:tx>
          <c:spPr>
            <a:solidFill>
              <a:srgbClr val="FFB7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Cost per hire</c:v>
                  </c:pt>
                  <c:pt idx="1">
                    <c:v>Time per hire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AI‑Driven Process</c:v>
                </c:pt>
              </c:strCache>
            </c:strRef>
          </c:tx>
          <c:spPr>
            <a:solidFill>
              <a:srgbClr val="F96D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Cost per hire</c:v>
                  </c:pt>
                  <c:pt idx="1">
                    <c:v>Time per hire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hyperlink" Target="https://hire-in.com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hyperlink" Target="https://hire-in.com/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hyperlink" Target="https://hire-in.com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file:///home/oai/share/marketing_aptiva.pdf#:~:text=aptivacorp,Time%20Saving%20Benefits%20Maintain%20Confidentiality" TargetMode="External"/><Relationship Id="rId3" Type="http://schemas.openxmlformats.org/officeDocument/2006/relationships/hyperlink" Target="https://www.globenewswire.com/news-release/2025/03/20/3046288/0/en/Businesses-in-the-United-States-Spend-35-Days-Filling-Each-Vacancy-According-to-Analysis-by-SmartRecruiters.html#:~:text=SAN%20FRANCISCO%2C%20March%2020%2C%202025,receiving%20job%20offers" TargetMode="External"/><Relationship Id="rId4" Type="http://schemas.openxmlformats.org/officeDocument/2006/relationships/hyperlink" Target="https://impress.ai/blogs/how-ai-recruitment-automation-reduces-time-to-hire-by-75-in-2025/#:~:text=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hyperlink" Target="https://hire-in.com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hyperlink" Target="https://hire-in.com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hyperlink" Target="https://hire-in.com/" TargetMode="External"/><Relationship Id="rId3" Type="http://schemas.openxmlformats.org/officeDocument/2006/relationships/hyperlink" Target="https://impress.ai/blogs/how-ai-recruitment-automation-reduces-time-to-hire-by-75-in-2025/#:~:text=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hyperlink" Target="https://hire-in.com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marketing_aptiva.pdf#:~:text=Demand%20Fulfillment%20,any%20%E2%80%A2%20Post%20onboarding%20reviews" TargetMode="External"/><Relationship Id="rId2" Type="http://schemas.openxmlformats.org/officeDocument/2006/relationships/hyperlink" Target="file:///home/oai/share/marketing_aptiva.pdf#:~:text=aptivacorp,sourcing%20with%2050%2C000%2B%20resume%20databas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chart" Target="../charts/chart3.xml"/><Relationship Id="rId6" Type="http://schemas.openxmlformats.org/officeDocument/2006/relationships/hyperlink" Target="https://impress.ai/blogs/how-ai-recruitment-automation-reduces-time-to-hire-by-75-in-2025/#:~:text=,interviews%20and%20improving%20candidate%20experience" TargetMode="External"/><Relationship Id="rId7" Type="http://schemas.openxmlformats.org/officeDocument/2006/relationships/hyperlink" Target="file:///home/oai/share/marketing_aptiva.pdf#:~:text=aptivacorp,Time%20Saving%20Benefits%20Maintain%20Confidentiality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hyperlink" Target="file:///home/oai/share/marketing_aptiva.pdf#:~:text=Demand%20Fulfillment%20,any%20%E2%80%A2%20Post%20onboarding%20reviews" TargetMode="External"/><Relationship Id="rId6" Type="http://schemas.openxmlformats.org/officeDocument/2006/relationships/hyperlink" Target="file:///home/oai/share/marketing_aptiva.pdf#:~:text=aptivacorp,sourcing%20with%2050%2C000%2B%20resume%20database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hyperlink" Target="https://hire-in.com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hyperlink" Target="https://hire-in.co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731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4630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Hire'in Solutions</a:t>
            </a:r>
            <a:pPr algn="l" indent="0" marL="0">
              <a:buNone/>
            </a:pPr>
            <a:endParaRPr lang="en-US" sz="4000" dirty="0"/>
          </a:p>
          <a:p>
            <a:pPr algn="l" indent="0" marL="0">
              <a:buNone/>
            </a:pPr>
            <a:r>
              <a:rPr lang="en-US" sz="2000" i="1" dirty="0">
                <a:solidFill>
                  <a:srgbClr val="A7D7A8"/>
                </a:solidFill>
              </a:rPr>
              <a:t>AI‑Driven Staffing Excellence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B77B"/>
                </a:solidFill>
              </a:rPr>
              <a:t>Delivering talent 80% faster with 100% compliance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3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3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48640" cy="3657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548640" cy="3657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548640" cy="36576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2880"/>
            <a:ext cx="548640" cy="3657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D3E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7" name="Shape 1"/>
          <p:cNvSpPr/>
          <p:nvPr/>
        </p:nvSpPr>
        <p:spPr>
          <a:xfrm>
            <a:off x="457200" y="9144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sp>
        <p:nvSpPr>
          <p:cNvPr id="8" name="Text 2"/>
          <p:cNvSpPr/>
          <p:nvPr/>
        </p:nvSpPr>
        <p:spPr>
          <a:xfrm>
            <a:off x="548640" y="960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Top 10%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Time‑to‑fill (industry percentile)</a:t>
            </a:r>
            <a:endParaRPr lang="en-US" sz="2400" dirty="0"/>
          </a:p>
        </p:txBody>
      </p:sp>
      <p:sp>
        <p:nvSpPr>
          <p:cNvPr id="9" name="Shape 3"/>
          <p:cNvSpPr/>
          <p:nvPr/>
        </p:nvSpPr>
        <p:spPr>
          <a:xfrm>
            <a:off x="2514600" y="9144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sp>
        <p:nvSpPr>
          <p:cNvPr id="10" name="Text 4"/>
          <p:cNvSpPr/>
          <p:nvPr/>
        </p:nvSpPr>
        <p:spPr>
          <a:xfrm>
            <a:off x="2606040" y="960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95%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Client retention</a:t>
            </a:r>
            <a:endParaRPr lang="en-US" sz="2400" dirty="0"/>
          </a:p>
        </p:txBody>
      </p:sp>
      <p:sp>
        <p:nvSpPr>
          <p:cNvPr id="11" name="Shape 5"/>
          <p:cNvSpPr/>
          <p:nvPr/>
        </p:nvSpPr>
        <p:spPr>
          <a:xfrm>
            <a:off x="4572000" y="9144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sp>
        <p:nvSpPr>
          <p:cNvPr id="12" name="Text 6"/>
          <p:cNvSpPr/>
          <p:nvPr/>
        </p:nvSpPr>
        <p:spPr>
          <a:xfrm>
            <a:off x="4663440" y="960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90%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AI accuracy</a:t>
            </a:r>
            <a:endParaRPr lang="en-US" sz="2400" dirty="0"/>
          </a:p>
        </p:txBody>
      </p:sp>
      <p:sp>
        <p:nvSpPr>
          <p:cNvPr id="13" name="Shape 7"/>
          <p:cNvSpPr/>
          <p:nvPr/>
        </p:nvSpPr>
        <p:spPr>
          <a:xfrm>
            <a:off x="6629400" y="9144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6720840" y="960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50% faster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Hiring time reduction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D3E"/>
                </a:solidFill>
              </a:rPr>
              <a:t>Sectors served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3464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Healthcare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834640"/>
            <a:ext cx="548640" cy="5486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0233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IT &amp; Software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2834640"/>
            <a:ext cx="548640" cy="5486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7665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Engineering &amp; Professional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457200" y="36576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Hire'in combines </a:t>
            </a:r>
            <a:pPr algn="l" indent="0" marL="0">
              <a:buNone/>
            </a:pPr>
            <a:r>
              <a:rPr lang="en-US" sz="1200" b="1" dirty="0">
                <a:solidFill>
                  <a:srgbClr val="F96D3E"/>
                </a:solidFill>
              </a:rPr>
              <a:t>cutting‑edge AI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with experienced recruiters to deliver staffing solutions across healthcare, software and engineering sectors.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8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8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D3E"/>
                </a:solidFill>
              </a:rPr>
              <a:t>Mission &amp; Vision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7B"/>
                </a:solidFill>
              </a:rPr>
              <a:t>Our Mission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Bridge AI &amp; human expertise to deliver top talent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Empower clients with faster, smarter hiring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Foster long‑term partnerships built on trust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0" y="91440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A7D7A8"/>
          </a:solidFill>
          <a:ln w="12700">
            <a:solidFill>
              <a:srgbClr val="A7D7A8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Our Vision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663440" y="137160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Redefine the future of work through AI staffing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Become the leading partner for compliant workforce solutions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Elevate candidate experiences with transparency &amp; care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3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3"/>
              </a:rPr>
              <a:t>[2]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3"/>
              </a:rPr>
              <a:t>[3]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D3E"/>
                </a:solidFill>
              </a:rPr>
              <a:t>Market Challenges &amp; Outsourcing Benefits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6012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Hiring Pain Points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Long time‑to‑hire &amp; high recruitment costs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Compliance &amp; credentialing hurdles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Inconsistent candidate quality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Talent shortages in specialised domains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9144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A7D7A8"/>
          </a:solidFill>
          <a:ln w="12700">
            <a:solidFill>
              <a:srgbClr val="A7D7A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0" y="96012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Benefits of Outsourcing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Cost containment &amp; ROI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Control over critical functions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Employment marketplace expertise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Time savings &amp; confidentiality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560320" y="3474720"/>
          <a:ext cx="402336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560320" y="3200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Median time‑to‑fill comparison (days)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2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3"/>
              </a:rPr>
              <a:t>[2]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4"/>
              </a:rPr>
              <a:t>[3]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D3E"/>
                </a:solidFill>
              </a:rPr>
              <a:t>Our Services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Healthcare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Clinical &amp; nursing staff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Allied health professionals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Healthcare operations &amp; admin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Telehealth specialists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383280" y="82296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FB77B"/>
          </a:solidFill>
          <a:ln w="12700">
            <a:solidFill>
              <a:srgbClr val="FFB77B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914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23360" y="914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IT &amp; Software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74720" y="128016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Software &amp; full-stack engineers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DevOps &amp; cloud architects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Data scientists &amp; analysts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Cybersecurity specialists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309360" y="82296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A7D7A8"/>
          </a:solidFill>
          <a:ln w="12700">
            <a:solidFill>
              <a:srgbClr val="A7D7A8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Engineering &amp; Professional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0" y="12801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Finance &amp; accounting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Marketing &amp; operations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Industrial &amp; process engineering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Core engineering streams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4"/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D3E"/>
                </a:solidFill>
              </a:rPr>
              <a:t>Why Choose Hire'in?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7B"/>
                </a:solidFill>
              </a:rPr>
              <a:t>AI‑Powered Matching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Save 80% of screening time and surface top talent faster.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800600" y="8229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05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7B"/>
                </a:solidFill>
              </a:rPr>
              <a:t>Fill Once, Share Forever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83480" y="1371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Simplified credentialing; reuse verified profiles across positions.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22860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7B"/>
                </a:solidFill>
              </a:rPr>
              <a:t>Healthcare Compliance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" y="2834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HIPAA‑ready architecture and TJC-HCSS aligned processes.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800600" y="22860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4688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7B"/>
                </a:solidFill>
              </a:rPr>
              <a:t>End‑to‑End Transparency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983480" y="2834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Real‑time dashboards and open communication throughout hiring.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5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5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D3E"/>
                </a:solidFill>
              </a:rPr>
              <a:t>Proven Results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Our AI‑driven approach delivers measurable outcomes: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98% client satisfaction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Top 10% time‑to‑fill (vs industry)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Top 20% submission‑to‑hire ratio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100% compliance (eVerified &amp; SAM registered)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937760" y="914400"/>
          <a:ext cx="3657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93776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Performance vs Industry Average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• RC4Vet: Filled state &amp; federal roles with full compliance faster than industry standard
</a:t>
            </a:r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• Wipro: Positions stuck 6 months filled in &lt;1 month; delivered 20 QA engineers in a month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2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3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D3E"/>
                </a:solidFill>
              </a:rPr>
              <a:t>Our Recruitment Process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Submit Requirements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0" y="2926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Define role criteria &amp; cultural fit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2377440" y="2221992"/>
            <a:ext cx="274320" cy="36576"/>
          </a:xfrm>
          <a:prstGeom prst="rect">
            <a:avLst/>
          </a:prstGeom>
          <a:solidFill>
            <a:srgbClr val="A7D7A8"/>
          </a:solidFill>
          <a:ln w="12700">
            <a:solidFill>
              <a:srgbClr val="A7D7A8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0" y="2011680"/>
            <a:ext cx="548640" cy="548640"/>
          </a:xfrm>
          <a:prstGeom prst="ellipse">
            <a:avLst/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1031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6888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AI Pre‑Screening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286000" y="2926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Automated resume parsing &amp; ranking (80% faster)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4663440" y="2221992"/>
            <a:ext cx="274320" cy="36576"/>
          </a:xfrm>
          <a:prstGeom prst="rect">
            <a:avLst/>
          </a:prstGeom>
          <a:solidFill>
            <a:srgbClr val="A7D7A8"/>
          </a:solidFill>
          <a:ln w="12700">
            <a:solidFill>
              <a:srgbClr val="A7D7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0" y="2011680"/>
            <a:ext cx="548640" cy="548640"/>
          </a:xfrm>
          <a:prstGeom prst="ellipse">
            <a:avLst/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1031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Human Validation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572000" y="2926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Recruiter interviews &amp; credential checks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6949440" y="2221992"/>
            <a:ext cx="274320" cy="36576"/>
          </a:xfrm>
          <a:prstGeom prst="rect">
            <a:avLst/>
          </a:prstGeom>
          <a:solidFill>
            <a:srgbClr val="A7D7A8"/>
          </a:solidFill>
          <a:ln w="12700">
            <a:solidFill>
              <a:srgbClr val="A7D7A8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315200" y="2011680"/>
            <a:ext cx="548640" cy="548640"/>
          </a:xfrm>
          <a:prstGeom prst="ellipse">
            <a:avLst/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10312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088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Perfect Match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858000" y="2926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Final shortlist &amp; candidate onboarding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96D3E"/>
                </a:solidFill>
              </a:rPr>
              <a:t>Synergising automation &amp; human judgment ensures speed and quality.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5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5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D3E"/>
                </a:solidFill>
              </a:rPr>
              <a:t>Sourcing &amp; Fulfilment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FFB77B"/>
          </a:solidFill>
          <a:ln w="12700">
            <a:solidFill>
              <a:srgbClr val="FFB77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Sourcing Highlights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50k+ active resumes &amp; in‑house harvesting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AI &amp; analytics for skill matching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Proactive demand generation &amp; prioritisation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Alternate fulfilment &amp; immigration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0" y="8229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A7D7A8"/>
          </a:solidFill>
          <a:ln w="12700">
            <a:solidFill>
              <a:srgbClr val="A7D7A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Fulfilment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Kick‑off: demand definition &amp; prioritisation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Recruiter allocation &amp; internal submission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Client submission &amp; interview coordination
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• Selections, BGV, immigration &amp; onboarding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2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D3E"/>
                </a:solidFill>
              </a:rPr>
              <a:t>AI Efficiency &amp; ROI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D3E"/>
                </a:solidFill>
              </a:rPr>
              <a:t>Instant Shortlisting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Unbiased resume scoring for fair candidate selection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D3E"/>
                </a:solidFill>
              </a:rPr>
              <a:t>Reduced Drop‑Off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Conversational AI lowers candidate drop‑offs by up to 40%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377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D3E"/>
                </a:solidFill>
              </a:rPr>
              <a:t>Faster Scheduling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8229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Automated interview coordination accelerates hiring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0896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3108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D3E"/>
                </a:solidFill>
              </a:rPr>
              <a:t>Cost Savings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82296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Optimised processes save HR time &amp; resources</a:t>
            </a:r>
            <a:endParaRPr lang="en-US" sz="8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0" y="914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 9"/>
          <p:cNvSpPr/>
          <p:nvPr/>
        </p:nvSpPr>
        <p:spPr>
          <a:xfrm>
            <a:off x="457200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Cost &amp; Time per Hire (Index)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6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7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D3E"/>
                </a:solidFill>
              </a:rPr>
              <a:t>Extended Capabilities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Talent Management &amp; Training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Upskilling programmes, certifications and performance tracking nurture high‑calibre talent and ensure ongoing workforce readiness.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800600" y="9144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B77B"/>
          </a:solidFill>
          <a:ln w="12700">
            <a:solidFill>
              <a:srgbClr val="FFB77B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Reporting &amp; Analytics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83480" y="1417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Real‑time dashboards provide visibility into demand, supply, compliance and performance metrics to drive data‑informed decisions.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A7D7A8"/>
          </a:solidFill>
          <a:ln w="12700">
            <a:solidFill>
              <a:srgbClr val="A7D7A8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Flexible Engagement Models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" y="2880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Onsite, offsite and hybrid staffing options adapt to client preferences, optimise costs and support remote/hybrid teams.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800600" y="237744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5603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Global Presence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983480" y="2880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A worldwide network of partners and delivery centres enables scalable solutions across geographies and time zones.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5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6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D3E"/>
                </a:solidFill>
              </a:rPr>
              <a:t>Compliance &amp; Security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HIPAA‑Ready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Built to meet HIPAA standards for confidentiality &amp; data protection.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800600" y="8229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B77B"/>
          </a:solidFill>
          <a:ln w="12700">
            <a:solidFill>
              <a:srgbClr val="FFB77B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058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Smart Encryption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83480" y="1325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End‑to‑end encryption safeguards candidate data at every step.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57200" y="22860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A7D7A8"/>
          </a:solidFill>
          <a:ln w="12700">
            <a:solidFill>
              <a:srgbClr val="A7D7A8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TJC‑HCSS Aligned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" y="2788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Processes align with The Joint Commission’s Healthcare Staffing Services certification.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800600" y="22860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4688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Healthcare Verification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983480" y="2788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Thorough background, license &amp; credential checks ensure 100% compliance.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5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5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D3E"/>
                </a:solidFill>
              </a:rPr>
              <a:t>Partner with Hire'in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Experience AI‑driven hiring today and gain: 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50% reduction in time‑to‑hire (AI + human hybrid)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Top 10% time‑to‑fill &amp; Top 20% submittal‑to‑hire ratio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98% client satisfaction &amp; 95% retention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Guaranteed compliance (eVerified &amp; SAM registered) &amp; improved ROI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0" y="128016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96D3E"/>
          </a:solidFill>
          <a:ln w="12700">
            <a:solidFill>
              <a:srgbClr val="F96D3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0" y="13716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Ready to transform your hiring?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Contact us to discuss a customised staffing solution.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B77B"/>
                </a:solidFill>
              </a:rPr>
              <a:t>hello@hire-in.com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D7A8"/>
                </a:solidFill>
              </a:rPr>
              <a:t>Let's build the future of work together!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600" b="1" u="sng" dirty="0">
                <a:solidFill>
                  <a:srgbClr val="245485"/>
                </a:solidFill>
                <a:hlinkClick r:id="rId1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2026-03-25T01:15:38Z</dcterms:created>
  <dcterms:modified xsi:type="dcterms:W3CDTF">2026-03-25T01:15:38Z</dcterms:modified>
</cp:coreProperties>
</file>